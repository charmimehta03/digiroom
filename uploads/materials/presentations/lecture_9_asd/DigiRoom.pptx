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dec Pro Bold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00008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5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4747" y="0"/>
            <a:ext cx="18226548" cy="10287000"/>
            <a:chOff x="0" y="0"/>
            <a:chExt cx="6994608" cy="38317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94609" cy="3831772"/>
            </a:xfrm>
            <a:custGeom>
              <a:avLst/>
              <a:gdLst/>
              <a:ahLst/>
              <a:cxnLst/>
              <a:rect l="l" t="t" r="r" b="b"/>
              <a:pathLst>
                <a:path w="6994609" h="3831772">
                  <a:moveTo>
                    <a:pt x="0" y="0"/>
                  </a:moveTo>
                  <a:lnTo>
                    <a:pt x="6994609" y="0"/>
                  </a:lnTo>
                  <a:lnTo>
                    <a:pt x="6994609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994608" cy="386034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 flipH="1" flipV="1">
            <a:off x="726476" y="-217598"/>
            <a:ext cx="1085666" cy="1859352"/>
          </a:xfrm>
          <a:custGeom>
            <a:avLst/>
            <a:gdLst/>
            <a:ahLst/>
            <a:cxnLst/>
            <a:rect l="l" t="t" r="r" b="b"/>
            <a:pathLst>
              <a:path w="1085666" h="1859352">
                <a:moveTo>
                  <a:pt x="1085666" y="1859352"/>
                </a:moveTo>
                <a:lnTo>
                  <a:pt x="0" y="1859352"/>
                </a:lnTo>
                <a:lnTo>
                  <a:pt x="0" y="0"/>
                </a:lnTo>
                <a:lnTo>
                  <a:pt x="1085666" y="0"/>
                </a:lnTo>
                <a:lnTo>
                  <a:pt x="1085666" y="1859352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35631" r="-356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76200" y="0"/>
            <a:ext cx="5203619" cy="1594845"/>
          </a:xfrm>
          <a:custGeom>
            <a:avLst/>
            <a:gdLst/>
            <a:ahLst/>
            <a:cxnLst/>
            <a:rect l="l" t="t" r="r" b="b"/>
            <a:pathLst>
              <a:path w="5203619" h="1594845">
                <a:moveTo>
                  <a:pt x="0" y="0"/>
                </a:moveTo>
                <a:lnTo>
                  <a:pt x="5203619" y="0"/>
                </a:lnTo>
                <a:lnTo>
                  <a:pt x="5203619" y="1594845"/>
                </a:lnTo>
                <a:lnTo>
                  <a:pt x="0" y="1594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140452" y="2332633"/>
            <a:ext cx="12007096" cy="3517346"/>
          </a:xfrm>
          <a:custGeom>
            <a:avLst/>
            <a:gdLst/>
            <a:ahLst/>
            <a:cxnLst/>
            <a:rect l="l" t="t" r="r" b="b"/>
            <a:pathLst>
              <a:path w="12007096" h="3517346">
                <a:moveTo>
                  <a:pt x="0" y="0"/>
                </a:moveTo>
                <a:lnTo>
                  <a:pt x="12007096" y="0"/>
                </a:lnTo>
                <a:lnTo>
                  <a:pt x="12007096" y="3517346"/>
                </a:lnTo>
                <a:lnTo>
                  <a:pt x="0" y="3517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3035519" y="7460183"/>
            <a:ext cx="5989618" cy="2252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9"/>
              </a:lnSpc>
              <a:spcBef>
                <a:spcPct val="0"/>
              </a:spcBef>
            </a:pPr>
            <a:r>
              <a:rPr lang="en-US" sz="31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Name:</a:t>
            </a:r>
          </a:p>
          <a:p>
            <a:pPr marL="687645" lvl="1" indent="-343823" algn="l">
              <a:lnSpc>
                <a:spcPts val="4459"/>
              </a:lnSpc>
              <a:buFont typeface="Arial"/>
              <a:buChar char="•"/>
            </a:pPr>
            <a:r>
              <a:rPr lang="en-US" sz="31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Omkar Kasar (23)</a:t>
            </a:r>
          </a:p>
          <a:p>
            <a:pPr marL="687645" lvl="1" indent="-343823" algn="l">
              <a:lnSpc>
                <a:spcPts val="4459"/>
              </a:lnSpc>
              <a:buFont typeface="Arial"/>
              <a:buChar char="•"/>
            </a:pPr>
            <a:r>
              <a:rPr lang="en-US" sz="31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Charmi Mehta (31)</a:t>
            </a:r>
          </a:p>
          <a:p>
            <a:pPr marL="687645" lvl="1" indent="-343823" algn="l">
              <a:lnSpc>
                <a:spcPts val="4459"/>
              </a:lnSpc>
              <a:spcBef>
                <a:spcPct val="0"/>
              </a:spcBef>
              <a:buFont typeface="Arial"/>
              <a:buChar char="•"/>
            </a:pPr>
            <a:r>
              <a:rPr lang="en-US" sz="318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Fahim Shaikh (43)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9264" y="5310737"/>
            <a:ext cx="11636335" cy="55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  <a:spcBef>
                <a:spcPct val="0"/>
              </a:spcBef>
            </a:pPr>
            <a:r>
              <a:rPr lang="en-US" sz="314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Smart Meeting and Intelligent Lecture Analytics Platform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9633" y="8012061"/>
            <a:ext cx="9009698" cy="6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344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UNDER GUIDENCE OF : Prof. Sweta Nigam</a:t>
            </a:r>
            <a:r>
              <a:rPr lang="en-US" sz="34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96057" y="-326774"/>
            <a:ext cx="5910217" cy="5713755"/>
          </a:xfrm>
          <a:custGeom>
            <a:avLst/>
            <a:gdLst/>
            <a:ahLst/>
            <a:cxnLst/>
            <a:rect l="l" t="t" r="r" b="b"/>
            <a:pathLst>
              <a:path w="5910217" h="5713755">
                <a:moveTo>
                  <a:pt x="0" y="0"/>
                </a:moveTo>
                <a:lnTo>
                  <a:pt x="5910216" y="0"/>
                </a:lnTo>
                <a:lnTo>
                  <a:pt x="5910216" y="5713756"/>
                </a:lnTo>
                <a:lnTo>
                  <a:pt x="0" y="571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89019" y="4446814"/>
            <a:ext cx="498738" cy="423887"/>
          </a:xfrm>
          <a:custGeom>
            <a:avLst/>
            <a:gdLst/>
            <a:ahLst/>
            <a:cxnLst/>
            <a:rect l="l" t="t" r="r" b="b"/>
            <a:pathLst>
              <a:path w="498738" h="423887">
                <a:moveTo>
                  <a:pt x="0" y="0"/>
                </a:moveTo>
                <a:lnTo>
                  <a:pt x="498738" y="0"/>
                </a:lnTo>
                <a:lnTo>
                  <a:pt x="498738" y="423887"/>
                </a:lnTo>
                <a:lnTo>
                  <a:pt x="0" y="423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187757" y="4361089"/>
            <a:ext cx="10919271" cy="525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DigiRoom is an AI-powered online learning platform designed to improve virtual education through enhanced student engagement and interaction.</a:t>
            </a:r>
          </a:p>
          <a:p>
            <a:pPr algn="l">
              <a:lnSpc>
                <a:spcPts val="3819"/>
              </a:lnSpc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enables teachers to conduct online classes, share study materials, create assessments, and monitor student progress. Using AI-based analysis of student behavior, attendance, participation, and performance, the system provides insights and personalized learning support. </a:t>
            </a:r>
          </a:p>
          <a:p>
            <a:pPr algn="l">
              <a:lnSpc>
                <a:spcPts val="3819"/>
              </a:lnSpc>
            </a:pPr>
            <a:r>
              <a:rPr lang="en-US" sz="27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DigiRoom aims to create an interactive, efficient, and learner-centered online education environment.</a:t>
            </a:r>
          </a:p>
          <a:p>
            <a:pPr marL="0" lvl="0" indent="0" algn="just">
              <a:lnSpc>
                <a:spcPts val="3819"/>
              </a:lnSpc>
              <a:spcBef>
                <a:spcPct val="0"/>
              </a:spcBef>
            </a:pPr>
            <a:endParaRPr lang="en-US" sz="272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689019" y="5958653"/>
            <a:ext cx="498738" cy="423887"/>
          </a:xfrm>
          <a:custGeom>
            <a:avLst/>
            <a:gdLst/>
            <a:ahLst/>
            <a:cxnLst/>
            <a:rect l="l" t="t" r="r" b="b"/>
            <a:pathLst>
              <a:path w="498738" h="423887">
                <a:moveTo>
                  <a:pt x="0" y="0"/>
                </a:moveTo>
                <a:lnTo>
                  <a:pt x="498738" y="0"/>
                </a:lnTo>
                <a:lnTo>
                  <a:pt x="498738" y="423887"/>
                </a:lnTo>
                <a:lnTo>
                  <a:pt x="0" y="423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689019" y="6819596"/>
            <a:ext cx="498738" cy="423887"/>
          </a:xfrm>
          <a:custGeom>
            <a:avLst/>
            <a:gdLst/>
            <a:ahLst/>
            <a:cxnLst/>
            <a:rect l="l" t="t" r="r" b="b"/>
            <a:pathLst>
              <a:path w="498738" h="423887">
                <a:moveTo>
                  <a:pt x="0" y="0"/>
                </a:moveTo>
                <a:lnTo>
                  <a:pt x="498738" y="0"/>
                </a:lnTo>
                <a:lnTo>
                  <a:pt x="498738" y="423887"/>
                </a:lnTo>
                <a:lnTo>
                  <a:pt x="0" y="423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689019" y="8329333"/>
            <a:ext cx="498738" cy="423887"/>
          </a:xfrm>
          <a:custGeom>
            <a:avLst/>
            <a:gdLst/>
            <a:ahLst/>
            <a:cxnLst/>
            <a:rect l="l" t="t" r="r" b="b"/>
            <a:pathLst>
              <a:path w="498738" h="423887">
                <a:moveTo>
                  <a:pt x="0" y="0"/>
                </a:moveTo>
                <a:lnTo>
                  <a:pt x="498738" y="0"/>
                </a:lnTo>
                <a:lnTo>
                  <a:pt x="498738" y="423886"/>
                </a:lnTo>
                <a:lnTo>
                  <a:pt x="0" y="423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178930" y="1028700"/>
            <a:ext cx="10464972" cy="3065598"/>
          </a:xfrm>
          <a:custGeom>
            <a:avLst/>
            <a:gdLst/>
            <a:ahLst/>
            <a:cxnLst/>
            <a:rect l="l" t="t" r="r" b="b"/>
            <a:pathLst>
              <a:path w="10464972" h="3065598">
                <a:moveTo>
                  <a:pt x="0" y="0"/>
                </a:moveTo>
                <a:lnTo>
                  <a:pt x="10464973" y="0"/>
                </a:lnTo>
                <a:lnTo>
                  <a:pt x="10464973" y="3065598"/>
                </a:lnTo>
                <a:lnTo>
                  <a:pt x="0" y="3065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42447" y="3446880"/>
            <a:ext cx="3297826" cy="2855769"/>
            <a:chOff x="0" y="0"/>
            <a:chExt cx="4282440" cy="370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65052" y="5071092"/>
            <a:ext cx="3297826" cy="2855769"/>
            <a:chOff x="0" y="0"/>
            <a:chExt cx="4282440" cy="370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340284" y="3446880"/>
            <a:ext cx="3297826" cy="2855769"/>
            <a:chOff x="0" y="0"/>
            <a:chExt cx="4282440" cy="370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93486" y="3175326"/>
            <a:ext cx="656113" cy="6561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88272" y="1657665"/>
            <a:ext cx="13311456" cy="109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30"/>
              </a:lnSpc>
            </a:pPr>
            <a:r>
              <a:rPr lang="en-US" sz="7774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Objectives of DigiRoom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3839" y="4720417"/>
            <a:ext cx="701350" cy="7013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79759" y="3116803"/>
            <a:ext cx="660154" cy="66015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5784" y="6343295"/>
            <a:ext cx="4765319" cy="43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7"/>
              </a:lnSpc>
              <a:spcBef>
                <a:spcPct val="0"/>
              </a:spcBef>
            </a:pPr>
            <a:r>
              <a:rPr lang="en-US" sz="2412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Live Classes &amp; Attendance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80972" y="8217049"/>
            <a:ext cx="5313153" cy="43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7"/>
              </a:lnSpc>
              <a:spcBef>
                <a:spcPct val="0"/>
              </a:spcBef>
            </a:pPr>
            <a:r>
              <a:rPr lang="en-US" sz="2412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&amp; Engagement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14772" y="6366436"/>
            <a:ext cx="5424942" cy="34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2412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&amp; 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2447" y="6827491"/>
            <a:ext cx="3531995" cy="109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3"/>
              </a:lnSpc>
              <a:spcBef>
                <a:spcPct val="0"/>
              </a:spcBef>
            </a:pPr>
            <a:r>
              <a:rPr lang="en-US" sz="2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 live online classes and automate attendance tracking seamlessly.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99162" y="8650542"/>
            <a:ext cx="3766217" cy="109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3"/>
              </a:lnSpc>
              <a:spcBef>
                <a:spcPct val="0"/>
              </a:spcBef>
            </a:pPr>
            <a:r>
              <a:rPr lang="en-US" sz="20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 real-time interaction and monitor student engagement effectively.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58135" y="6808441"/>
            <a:ext cx="5100630" cy="153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3"/>
              </a:lnSpc>
              <a:spcBef>
                <a:spcPct val="0"/>
              </a:spcBef>
            </a:pPr>
            <a:r>
              <a:rPr lang="en-US" sz="21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Simple tools to watch student focus and clear learning insights. Every lecture saved for later</a:t>
            </a:r>
          </a:p>
          <a:p>
            <a:pPr marL="0" lvl="0" indent="0" algn="ctr">
              <a:lnSpc>
                <a:spcPts val="3003"/>
              </a:lnSpc>
              <a:spcBef>
                <a:spcPct val="0"/>
              </a:spcBef>
            </a:pPr>
            <a:endParaRPr lang="en-US" sz="214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6812038" cy="38317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12038" cy="3831772"/>
            </a:xfrm>
            <a:custGeom>
              <a:avLst/>
              <a:gdLst/>
              <a:ahLst/>
              <a:cxnLst/>
              <a:rect l="l" t="t" r="r" b="b"/>
              <a:pathLst>
                <a:path w="6812038" h="3831772">
                  <a:moveTo>
                    <a:pt x="0" y="0"/>
                  </a:moveTo>
                  <a:lnTo>
                    <a:pt x="6812038" y="0"/>
                  </a:lnTo>
                  <a:lnTo>
                    <a:pt x="6812038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6812038" cy="389844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32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63457" y="2089297"/>
            <a:ext cx="11456882" cy="13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1"/>
              </a:lnSpc>
            </a:pPr>
            <a:r>
              <a:rPr lang="en-US" sz="9614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29080" y="4323393"/>
            <a:ext cx="14207412" cy="4488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468" lvl="1" indent="-274734" algn="l">
              <a:lnSpc>
                <a:spcPts val="3563"/>
              </a:lnSpc>
              <a:spcBef>
                <a:spcPct val="0"/>
              </a:spcBef>
              <a:buFont typeface="Arial"/>
              <a:buChar char="•"/>
            </a:pPr>
            <a:r>
              <a:rPr lang="en-US" sz="25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Online learning platforms often face challenges such as low student engagement, limited teacher-student interaction, difficulty in monitoring participation, and a lack of personalized learning support. </a:t>
            </a:r>
          </a:p>
          <a:p>
            <a:pPr marL="549468" lvl="1" indent="-274734" algn="l">
              <a:lnSpc>
                <a:spcPts val="3563"/>
              </a:lnSpc>
              <a:spcBef>
                <a:spcPct val="0"/>
              </a:spcBef>
              <a:buFont typeface="Arial"/>
              <a:buChar char="•"/>
            </a:pPr>
            <a:r>
              <a:rPr lang="en-US" sz="25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Teachers struggle to assess student attentiveness and track progress effectively in virtual classrooms. </a:t>
            </a:r>
          </a:p>
          <a:p>
            <a:pPr marL="549468" lvl="1" indent="-274734" algn="l">
              <a:lnSpc>
                <a:spcPts val="3563"/>
              </a:lnSpc>
              <a:spcBef>
                <a:spcPct val="0"/>
              </a:spcBef>
              <a:buFont typeface="Arial"/>
              <a:buChar char="•"/>
            </a:pPr>
            <a:r>
              <a:rPr lang="en-US" sz="25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address these issues, DigiRoom proposes an AI-powered online learning platform that monitors student engagement, analyzes learning behavior, and provides personalized recommendations, creating a more interactive, efficient, and learner-centered educational environment.</a:t>
            </a:r>
          </a:p>
          <a:p>
            <a:pPr algn="l">
              <a:lnSpc>
                <a:spcPts val="3563"/>
              </a:lnSpc>
              <a:spcBef>
                <a:spcPct val="0"/>
              </a:spcBef>
            </a:pPr>
            <a:endParaRPr lang="en-US" sz="254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986476" y="4399593"/>
            <a:ext cx="541646" cy="541646"/>
          </a:xfrm>
          <a:custGeom>
            <a:avLst/>
            <a:gdLst/>
            <a:ahLst/>
            <a:cxnLst/>
            <a:rect l="l" t="t" r="r" b="b"/>
            <a:pathLst>
              <a:path w="541646" h="541646">
                <a:moveTo>
                  <a:pt x="0" y="0"/>
                </a:moveTo>
                <a:lnTo>
                  <a:pt x="541646" y="0"/>
                </a:lnTo>
                <a:lnTo>
                  <a:pt x="541646" y="541645"/>
                </a:lnTo>
                <a:lnTo>
                  <a:pt x="0" y="541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986476" y="5749110"/>
            <a:ext cx="541646" cy="541646"/>
          </a:xfrm>
          <a:custGeom>
            <a:avLst/>
            <a:gdLst/>
            <a:ahLst/>
            <a:cxnLst/>
            <a:rect l="l" t="t" r="r" b="b"/>
            <a:pathLst>
              <a:path w="541646" h="541646">
                <a:moveTo>
                  <a:pt x="0" y="0"/>
                </a:moveTo>
                <a:lnTo>
                  <a:pt x="541646" y="0"/>
                </a:lnTo>
                <a:lnTo>
                  <a:pt x="541646" y="541646"/>
                </a:lnTo>
                <a:lnTo>
                  <a:pt x="0" y="541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015051" y="6657205"/>
            <a:ext cx="541646" cy="541646"/>
          </a:xfrm>
          <a:custGeom>
            <a:avLst/>
            <a:gdLst/>
            <a:ahLst/>
            <a:cxnLst/>
            <a:rect l="l" t="t" r="r" b="b"/>
            <a:pathLst>
              <a:path w="541646" h="541646">
                <a:moveTo>
                  <a:pt x="0" y="0"/>
                </a:moveTo>
                <a:lnTo>
                  <a:pt x="541646" y="0"/>
                </a:lnTo>
                <a:lnTo>
                  <a:pt x="541646" y="541646"/>
                </a:lnTo>
                <a:lnTo>
                  <a:pt x="0" y="541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833061" y="607895"/>
            <a:ext cx="13402929" cy="140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75"/>
              </a:lnSpc>
            </a:pPr>
            <a:r>
              <a:rPr lang="en-US" sz="9973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486" y="2111066"/>
            <a:ext cx="7237409" cy="527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6"/>
              </a:lnSpc>
            </a:pPr>
            <a:r>
              <a:rPr lang="en-US" sz="3830" b="1">
                <a:solidFill>
                  <a:srgbClr val="45D2F1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Flow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Institute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Teacher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Lecture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FastAPI / Socket.IO / WebRTC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marL="0" lvl="0" indent="0" algn="ctr">
              <a:lnSpc>
                <a:spcPts val="3112"/>
              </a:lnSpc>
            </a:pPr>
            <a:r>
              <a:rPr lang="en-US" sz="27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Attendance · Analytics · Materials · Polls · Chat · Recordings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8860" y="7360688"/>
            <a:ext cx="8308442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699" b="1">
                <a:solidFill>
                  <a:srgbClr val="45D2F1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</a:t>
            </a:r>
          </a:p>
          <a:p>
            <a:pPr marL="496569" lvl="1" indent="-248284" algn="l">
              <a:lnSpc>
                <a:spcPts val="2621"/>
              </a:lnSpc>
              <a:buAutoNum type="arabicPeriod"/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FastAPI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Backend REST API &amp; server logic</a:t>
            </a:r>
          </a:p>
          <a:p>
            <a:pPr marL="496569" lvl="1" indent="-248284" algn="l">
              <a:lnSpc>
                <a:spcPts val="2621"/>
              </a:lnSpc>
              <a:buAutoNum type="arabicPeriod"/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WebRTC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— Peer-to-peer live video &amp; audio streaming</a:t>
            </a:r>
          </a:p>
          <a:p>
            <a:pPr marL="496569" lvl="1" indent="-248284" algn="l">
              <a:lnSpc>
                <a:spcPts val="2621"/>
              </a:lnSpc>
              <a:buAutoNum type="arabicPeriod"/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Socket.IO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— Real-time event communication</a:t>
            </a:r>
          </a:p>
          <a:p>
            <a:pPr marL="496569" lvl="1" indent="-248284" algn="l">
              <a:lnSpc>
                <a:spcPts val="2621"/>
              </a:lnSpc>
              <a:buAutoNum type="arabicPeriod"/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SQLite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— Lightweight relational database</a:t>
            </a:r>
          </a:p>
          <a:p>
            <a:pPr marL="496569" lvl="1" indent="-248284" algn="l">
              <a:lnSpc>
                <a:spcPts val="2621"/>
              </a:lnSpc>
              <a:buAutoNum type="arabicPeriod"/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JSON + File System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— Material &amp; recording storage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7493" y="7620285"/>
            <a:ext cx="8105990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</a:pPr>
            <a:r>
              <a:rPr lang="en-US" sz="2762" b="1" dirty="0">
                <a:solidFill>
                  <a:srgbClr val="45D2F1"/>
                </a:solidFill>
                <a:latin typeface="Poppins Bold"/>
                <a:ea typeface="Poppins Bold"/>
                <a:cs typeface="Poppins Bold"/>
                <a:sym typeface="Poppins Bold"/>
              </a:rPr>
              <a:t>AI &amp; Analytics Stack</a:t>
            </a:r>
          </a:p>
          <a:p>
            <a:pPr marL="466909" lvl="1" indent="-233455" algn="l">
              <a:lnSpc>
                <a:spcPts val="2465"/>
              </a:lnSpc>
              <a:buAutoNum type="arabicPeriod"/>
            </a:pPr>
            <a:r>
              <a:rPr lang="en-US" sz="2162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MediaPipe</a:t>
            </a:r>
            <a:r>
              <a:rPr lang="en-US" sz="216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Face detection &amp; landmark tracking for attention monitoring</a:t>
            </a:r>
          </a:p>
          <a:p>
            <a:pPr marL="466909" lvl="1" indent="-233455" algn="l">
              <a:lnSpc>
                <a:spcPts val="2465"/>
              </a:lnSpc>
              <a:buAutoNum type="arabicPeriod"/>
            </a:pPr>
            <a:r>
              <a:rPr lang="en-US" sz="216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OpenCV </a:t>
            </a:r>
            <a:r>
              <a:rPr lang="en-US" sz="216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— Frame processing &amp; local video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6812038" cy="38317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12038" cy="3831772"/>
            </a:xfrm>
            <a:custGeom>
              <a:avLst/>
              <a:gdLst/>
              <a:ahLst/>
              <a:cxnLst/>
              <a:rect l="l" t="t" r="r" b="b"/>
              <a:pathLst>
                <a:path w="6812038" h="3831772">
                  <a:moveTo>
                    <a:pt x="0" y="0"/>
                  </a:moveTo>
                  <a:lnTo>
                    <a:pt x="6812038" y="0"/>
                  </a:lnTo>
                  <a:lnTo>
                    <a:pt x="6812038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0000">
                <a:alpha val="4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812038" cy="386034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9096" y="3648261"/>
            <a:ext cx="3297826" cy="2855769"/>
            <a:chOff x="0" y="0"/>
            <a:chExt cx="4282440" cy="370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71917" y="4828268"/>
            <a:ext cx="3297826" cy="2855769"/>
            <a:chOff x="0" y="0"/>
            <a:chExt cx="428244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22733" y="3720548"/>
            <a:ext cx="3286434" cy="2845904"/>
            <a:chOff x="0" y="0"/>
            <a:chExt cx="4282440" cy="3708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2025" y="3226570"/>
            <a:ext cx="843381" cy="84338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05488" y="2129877"/>
            <a:ext cx="10654596" cy="124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7"/>
              </a:lnSpc>
            </a:pPr>
            <a:r>
              <a:rPr lang="en-US" sz="8910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System Modules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48136" y="4406578"/>
            <a:ext cx="843381" cy="84338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560084" y="3298858"/>
            <a:ext cx="843381" cy="84338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52025" y="6623484"/>
            <a:ext cx="3507331" cy="50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4"/>
              </a:lnSpc>
              <a:spcBef>
                <a:spcPct val="0"/>
              </a:spcBef>
            </a:pPr>
            <a:r>
              <a:rPr lang="en-US" sz="2824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Teacher Module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48136" y="7757391"/>
            <a:ext cx="3182689" cy="50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4"/>
              </a:lnSpc>
              <a:spcBef>
                <a:spcPct val="0"/>
              </a:spcBef>
            </a:pPr>
            <a:r>
              <a:rPr lang="en-US" sz="2824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 Module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22733" y="6728259"/>
            <a:ext cx="3890910" cy="40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</a:pPr>
            <a:r>
              <a:rPr lang="en-US" sz="2824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AI Analytics Module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4322" y="7075617"/>
            <a:ext cx="3714606" cy="2065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 courses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Upload study materials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Schedule classes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assignments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View analytics</a:t>
            </a:r>
          </a:p>
          <a:p>
            <a:pPr marL="0" lvl="0" indent="0" algn="l">
              <a:lnSpc>
                <a:spcPts val="2723"/>
              </a:lnSpc>
              <a:spcBef>
                <a:spcPct val="0"/>
              </a:spcBef>
            </a:pPr>
            <a:endParaRPr lang="en-US" sz="194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548136" y="8251065"/>
            <a:ext cx="3380704" cy="172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Join classes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Access materials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Submit assignments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View performance</a:t>
            </a:r>
          </a:p>
          <a:p>
            <a:pPr marL="0" lvl="0" indent="0" algn="l">
              <a:lnSpc>
                <a:spcPts val="2723"/>
              </a:lnSpc>
              <a:spcBef>
                <a:spcPct val="0"/>
              </a:spcBef>
            </a:pPr>
            <a:endParaRPr lang="en-US" sz="194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322733" y="7221452"/>
            <a:ext cx="4025253" cy="137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Engagement monitoring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tracking</a:t>
            </a:r>
          </a:p>
          <a:p>
            <a:pPr marL="419931" lvl="1" indent="-209966" algn="l">
              <a:lnSpc>
                <a:spcPts val="2723"/>
              </a:lnSpc>
              <a:spcBef>
                <a:spcPct val="0"/>
              </a:spcBef>
              <a:buFont typeface="Arial"/>
              <a:buChar char="•"/>
            </a:pPr>
            <a:r>
              <a:rPr lang="en-US" sz="19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 insights</a:t>
            </a:r>
          </a:p>
          <a:p>
            <a:pPr marL="0" lvl="0" indent="0" algn="l">
              <a:lnSpc>
                <a:spcPts val="2723"/>
              </a:lnSpc>
              <a:spcBef>
                <a:spcPct val="0"/>
              </a:spcBef>
            </a:pPr>
            <a:endParaRPr lang="en-US" sz="194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00764" y="5768541"/>
            <a:ext cx="10654596" cy="133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51"/>
              </a:lnSpc>
            </a:pPr>
            <a:r>
              <a:rPr lang="en-US" sz="9410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Key Features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41364" y="4605048"/>
            <a:ext cx="4414884" cy="5022276"/>
            <a:chOff x="0" y="0"/>
            <a:chExt cx="5886512" cy="6696368"/>
          </a:xfrm>
        </p:grpSpPr>
        <p:grpSp>
          <p:nvGrpSpPr>
            <p:cNvPr id="5" name="Group 5"/>
            <p:cNvGrpSpPr/>
            <p:nvPr/>
          </p:nvGrpSpPr>
          <p:grpSpPr>
            <a:xfrm>
              <a:off x="530817" y="722591"/>
              <a:ext cx="4397102" cy="3807692"/>
              <a:chOff x="0" y="0"/>
              <a:chExt cx="4282440" cy="3708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536" r="-3536"/>
                </a:stretch>
              </a:blipFill>
              <a:ln w="1047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D5EE4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008656" y="0"/>
              <a:ext cx="1124507" cy="1124507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650655"/>
              <a:ext cx="5886512" cy="587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57"/>
                </a:lnSpc>
                <a:spcBef>
                  <a:spcPct val="0"/>
                </a:spcBef>
              </a:pPr>
              <a:r>
                <a:rPr lang="en-US" sz="2612" b="1">
                  <a:solidFill>
                    <a:srgbClr val="FA85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Live Virtual Classroom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0817" y="5260676"/>
              <a:ext cx="5355695" cy="1435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63"/>
                </a:lnSpc>
                <a:spcBef>
                  <a:spcPct val="0"/>
                </a:spcBef>
              </a:pPr>
              <a:r>
                <a:rPr lang="en-US" sz="204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Live classes, study material sharing, and real-time teacher-student interaction.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64990" y="958926"/>
            <a:ext cx="3297826" cy="2855769"/>
            <a:chOff x="0" y="0"/>
            <a:chExt cx="4282440" cy="3708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3536" r="-3536"/>
              </a:stretch>
            </a:blipFill>
            <a:ln w="1047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82477" y="611408"/>
            <a:ext cx="660769" cy="66076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9D5EE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57639" y="4025842"/>
            <a:ext cx="4887060" cy="45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57"/>
              </a:lnSpc>
              <a:spcBef>
                <a:spcPct val="0"/>
              </a:spcBef>
            </a:pPr>
            <a:r>
              <a:rPr lang="en-US" sz="2612" b="1">
                <a:solidFill>
                  <a:srgbClr val="FA85E2"/>
                </a:solidFill>
                <a:latin typeface="Poppins Bold"/>
                <a:ea typeface="Poppins Bold"/>
                <a:cs typeface="Poppins Bold"/>
                <a:sym typeface="Poppins Bold"/>
              </a:rPr>
              <a:t>Attendance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64990" y="4481223"/>
            <a:ext cx="3887958" cy="77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3"/>
              </a:lnSpc>
              <a:spcBef>
                <a:spcPct val="0"/>
              </a:spcBef>
            </a:pPr>
            <a:r>
              <a:rPr lang="en-US" sz="21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Automated attendance tracking 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346090" y="4733275"/>
            <a:ext cx="4745105" cy="4894050"/>
            <a:chOff x="0" y="0"/>
            <a:chExt cx="6326807" cy="6525400"/>
          </a:xfrm>
        </p:grpSpPr>
        <p:grpSp>
          <p:nvGrpSpPr>
            <p:cNvPr id="20" name="Group 20"/>
            <p:cNvGrpSpPr/>
            <p:nvPr/>
          </p:nvGrpSpPr>
          <p:grpSpPr>
            <a:xfrm>
              <a:off x="812376" y="562254"/>
              <a:ext cx="4397102" cy="3807692"/>
              <a:chOff x="0" y="0"/>
              <a:chExt cx="4282440" cy="3708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3536" r="-3536"/>
                </a:stretch>
              </a:blipFill>
              <a:ln w="1047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D5EE4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86877" y="0"/>
              <a:ext cx="1124507" cy="1124507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76398" y="4501266"/>
              <a:ext cx="5907634" cy="49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64"/>
                </a:lnSpc>
              </a:pPr>
              <a:r>
                <a:rPr lang="en-US" sz="2612" b="1">
                  <a:solidFill>
                    <a:srgbClr val="FA85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Engagement Analysis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089708"/>
              <a:ext cx="6326807" cy="1435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63"/>
                </a:lnSpc>
                <a:spcBef>
                  <a:spcPct val="0"/>
                </a:spcBef>
              </a:pPr>
              <a:r>
                <a:rPr lang="en-US" sz="204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AI-powered student progress tracking, engagement monitoring, and performance insights.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-1809453" y="-225323"/>
            <a:ext cx="7477533" cy="7228972"/>
          </a:xfrm>
          <a:custGeom>
            <a:avLst/>
            <a:gdLst/>
            <a:ahLst/>
            <a:cxnLst/>
            <a:rect l="l" t="t" r="r" b="b"/>
            <a:pathLst>
              <a:path w="7477533" h="7228972">
                <a:moveTo>
                  <a:pt x="0" y="0"/>
                </a:moveTo>
                <a:lnTo>
                  <a:pt x="7477533" y="0"/>
                </a:lnTo>
                <a:lnTo>
                  <a:pt x="7477533" y="7228972"/>
                </a:lnTo>
                <a:lnTo>
                  <a:pt x="0" y="7228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242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46792" y="-570255"/>
            <a:ext cx="5910217" cy="5713755"/>
          </a:xfrm>
          <a:custGeom>
            <a:avLst/>
            <a:gdLst/>
            <a:ahLst/>
            <a:cxnLst/>
            <a:rect l="l" t="t" r="r" b="b"/>
            <a:pathLst>
              <a:path w="5910217" h="5713755">
                <a:moveTo>
                  <a:pt x="0" y="0"/>
                </a:moveTo>
                <a:lnTo>
                  <a:pt x="5910217" y="0"/>
                </a:lnTo>
                <a:lnTo>
                  <a:pt x="5910217" y="5713755"/>
                </a:lnTo>
                <a:lnTo>
                  <a:pt x="0" y="5713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47" y="2589067"/>
            <a:ext cx="6292414" cy="463253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281254" y="1292445"/>
            <a:ext cx="12635732" cy="1271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85"/>
              </a:lnSpc>
            </a:pPr>
            <a:r>
              <a:rPr lang="en-US" sz="9017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AI-Powered Analytics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9937" y="3027710"/>
            <a:ext cx="5713259" cy="390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49"/>
              </a:lnSpc>
              <a:spcBef>
                <a:spcPct val="0"/>
              </a:spcBef>
            </a:pPr>
            <a:r>
              <a:rPr lang="en-US" sz="2749" b="1" dirty="0">
                <a:solidFill>
                  <a:srgbClr val="45D2F1"/>
                </a:solidFill>
                <a:latin typeface="Poppins Bold"/>
                <a:ea typeface="Poppins Bold"/>
                <a:cs typeface="Poppins Bold"/>
                <a:sym typeface="Poppins Bold"/>
              </a:rPr>
              <a:t>AI Features: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Facial Expression Analysis 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Eye Movement Tracking 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Head Pose Detection 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Attendance Analytics 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Participation Monitoring </a:t>
            </a:r>
          </a:p>
          <a:p>
            <a:pPr marL="754062" lvl="1" indent="-457200" algn="l">
              <a:lnSpc>
                <a:spcPts val="3849"/>
              </a:lnSpc>
              <a:buFont typeface="Wingdings" panose="05000000000000000000" pitchFamily="2" charset="2"/>
              <a:buChar char="ü"/>
            </a:pPr>
            <a:r>
              <a:rPr lang="en-US" sz="27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Evaluation</a:t>
            </a:r>
          </a:p>
          <a:p>
            <a:pPr marL="0" lvl="0" indent="0" algn="just">
              <a:lnSpc>
                <a:spcPts val="3849"/>
              </a:lnSpc>
              <a:spcBef>
                <a:spcPct val="0"/>
              </a:spcBef>
            </a:pPr>
            <a:endParaRPr lang="en-US" sz="274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29706" y="6813423"/>
            <a:ext cx="8086844" cy="241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 b="1" dirty="0">
                <a:solidFill>
                  <a:srgbClr val="45D2F1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Benefits:</a:t>
            </a:r>
            <a:r>
              <a:rPr lang="en-US" sz="2745" dirty="0">
                <a:solidFill>
                  <a:srgbClr val="45D2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753523" lvl="1" indent="-457200" algn="l">
              <a:lnSpc>
                <a:spcPts val="3843"/>
              </a:lnSpc>
              <a:buFont typeface="Wingdings" panose="05000000000000000000" pitchFamily="2" charset="2"/>
              <a:buChar char="ü"/>
            </a:pPr>
            <a:r>
              <a:rPr lang="en-US" sz="274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disengaged students</a:t>
            </a:r>
          </a:p>
          <a:p>
            <a:pPr marL="753523" lvl="1" indent="-457200" algn="l">
              <a:lnSpc>
                <a:spcPts val="3843"/>
              </a:lnSpc>
              <a:buFont typeface="Wingdings" panose="05000000000000000000" pitchFamily="2" charset="2"/>
              <a:buChar char="ü"/>
            </a:pPr>
            <a:r>
              <a:rPr lang="en-US" sz="274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Improve learning outcomes </a:t>
            </a:r>
          </a:p>
          <a:p>
            <a:pPr marL="753523" lvl="1" indent="-457200" algn="l">
              <a:lnSpc>
                <a:spcPts val="3843"/>
              </a:lnSpc>
              <a:buFont typeface="Wingdings" panose="05000000000000000000" pitchFamily="2" charset="2"/>
              <a:buChar char="ü"/>
            </a:pPr>
            <a:r>
              <a:rPr lang="en-US" sz="274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personalized learning experiences.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05" t="-7337" r="-15024" b="-219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816702" y="1746199"/>
            <a:ext cx="10654596" cy="111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57"/>
              </a:lnSpc>
            </a:pPr>
            <a:r>
              <a:rPr lang="en-US" sz="7911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Technology Stack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3741846"/>
            <a:ext cx="3550813" cy="5030781"/>
            <a:chOff x="0" y="0"/>
            <a:chExt cx="4734417" cy="670770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401916"/>
              <a:ext cx="4734417" cy="4099792"/>
              <a:chOff x="0" y="0"/>
              <a:chExt cx="4282440" cy="3708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7739" b="-7739"/>
                </a:stretch>
              </a:blipFill>
              <a:ln w="1047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D5EE4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81203" y="0"/>
              <a:ext cx="1124507" cy="1124507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42023" y="4555010"/>
              <a:ext cx="3675462" cy="650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47"/>
                </a:lnSpc>
                <a:spcBef>
                  <a:spcPct val="0"/>
                </a:spcBef>
              </a:pPr>
              <a:r>
                <a:rPr lang="en-US" sz="2819" b="1">
                  <a:solidFill>
                    <a:srgbClr val="FA85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091" y="5236730"/>
              <a:ext cx="4709326" cy="1470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9"/>
                </a:lnSpc>
              </a:pPr>
              <a:r>
                <a:rPr lang="en-US" sz="2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HTML , CSS for UI </a:t>
              </a:r>
            </a:p>
            <a:p>
              <a:pPr marL="0" lvl="0" indent="0" algn="ctr">
                <a:lnSpc>
                  <a:spcPts val="2979"/>
                </a:lnSpc>
                <a:spcBef>
                  <a:spcPct val="0"/>
                </a:spcBef>
              </a:pPr>
              <a:r>
                <a:rPr lang="en-US" sz="2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and JavaScript for functioning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57049" y="3723887"/>
            <a:ext cx="4373903" cy="5088512"/>
            <a:chOff x="0" y="0"/>
            <a:chExt cx="5831870" cy="6784684"/>
          </a:xfrm>
        </p:grpSpPr>
        <p:grpSp>
          <p:nvGrpSpPr>
            <p:cNvPr id="13" name="Group 13"/>
            <p:cNvGrpSpPr/>
            <p:nvPr/>
          </p:nvGrpSpPr>
          <p:grpSpPr>
            <a:xfrm>
              <a:off x="717384" y="512746"/>
              <a:ext cx="4397102" cy="3807692"/>
              <a:chOff x="0" y="0"/>
              <a:chExt cx="4282440" cy="3708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3536" r="-3536"/>
                </a:stretch>
              </a:blipFill>
              <a:ln w="1047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D5EE4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195002" y="0"/>
              <a:ext cx="1124507" cy="112450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4450948"/>
              <a:ext cx="5831870" cy="650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47"/>
                </a:lnSpc>
                <a:spcBef>
                  <a:spcPct val="0"/>
                </a:spcBef>
              </a:pPr>
              <a:r>
                <a:rPr lang="en-US" sz="2819" b="1">
                  <a:solidFill>
                    <a:srgbClr val="FA85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&amp; Database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408" y="5260677"/>
              <a:ext cx="3723054" cy="1524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2979"/>
                </a:lnSpc>
                <a:spcBef>
                  <a:spcPct val="0"/>
                </a:spcBef>
              </a:pPr>
              <a:r>
                <a:rPr lang="en-IN" sz="2400" dirty="0">
                  <a:solidFill>
                    <a:schemeClr val="bg1"/>
                  </a:solidFill>
                </a:rPr>
                <a:t>SQLite + </a:t>
              </a:r>
              <a:r>
                <a:rPr lang="en-IN" sz="2400" dirty="0" err="1">
                  <a:solidFill>
                    <a:schemeClr val="bg1"/>
                  </a:solidFill>
                </a:rPr>
                <a:t>SQLAlchemy</a:t>
              </a:r>
              <a:r>
                <a:rPr lang="en-IN" sz="2400" dirty="0">
                  <a:solidFill>
                    <a:schemeClr val="bg1"/>
                  </a:solidFill>
                </a:rPr>
                <a:t>, Socket.IO, WebRTC, </a:t>
              </a:r>
              <a:r>
                <a:rPr lang="en-IN" sz="2400" dirty="0" err="1">
                  <a:solidFill>
                    <a:schemeClr val="bg1"/>
                  </a:solidFill>
                </a:rPr>
                <a:t>FastAPI</a:t>
              </a:r>
              <a:endParaRPr lang="en-US" sz="2128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712201" y="3848932"/>
            <a:ext cx="4025253" cy="4923695"/>
            <a:chOff x="0" y="0"/>
            <a:chExt cx="5367004" cy="6564926"/>
          </a:xfrm>
        </p:grpSpPr>
        <p:grpSp>
          <p:nvGrpSpPr>
            <p:cNvPr id="21" name="Group 21"/>
            <p:cNvGrpSpPr/>
            <p:nvPr/>
          </p:nvGrpSpPr>
          <p:grpSpPr>
            <a:xfrm>
              <a:off x="312224" y="442797"/>
              <a:ext cx="4397102" cy="3772717"/>
              <a:chOff x="0" y="0"/>
              <a:chExt cx="4282440" cy="367433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82440" cy="3674337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674337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37169"/>
                    </a:lnTo>
                    <a:lnTo>
                      <a:pt x="1070610" y="3674337"/>
                    </a:lnTo>
                    <a:lnTo>
                      <a:pt x="3211830" y="3674337"/>
                    </a:lnTo>
                    <a:lnTo>
                      <a:pt x="4282440" y="1837169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3044" r="-3044"/>
                </a:stretch>
              </a:blipFill>
              <a:ln w="10477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D5EE4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139818" y="0"/>
              <a:ext cx="1124507" cy="1124507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D5EE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63250" y="4430790"/>
              <a:ext cx="4095050" cy="549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5"/>
                </a:lnSpc>
              </a:pPr>
              <a:r>
                <a:rPr lang="en-US" sz="2819" b="1">
                  <a:solidFill>
                    <a:srgbClr val="FA85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&amp; Dev Tools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5093949"/>
              <a:ext cx="5367004" cy="1470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79"/>
                </a:lnSpc>
                <a:spcBef>
                  <a:spcPct val="0"/>
                </a:spcBef>
              </a:pPr>
              <a:r>
                <a:rPr lang="en-US" sz="2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OpenCV, MediaPipe, AI Models, Visual Studio, VS Code.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1" r="-23041" b="-61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057634" y="1434947"/>
            <a:ext cx="8852053" cy="8852053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3"/>
                </a:lnTo>
                <a:lnTo>
                  <a:pt x="0" y="8852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757340" y="9361396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337543" y="409815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-765252" y="1758105"/>
            <a:ext cx="9253880" cy="84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31"/>
              </a:lnSpc>
            </a:pPr>
            <a:r>
              <a:rPr lang="en-US" sz="5948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4419" y="2590726"/>
            <a:ext cx="8868773" cy="214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Successfully Developed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Smart Virtual Classroom with live video &amp; audio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Automated Attendance Tracking system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Real-Time Analytics &amp; Attention Monitoring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Live Polls, Chat &amp; Communication Platform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Privacy-focused, student-first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37385" y="6714052"/>
            <a:ext cx="8868773" cy="179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8"/>
              </a:lnSpc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AI-powered Lecture Summaries using Ollama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Cloud Deployment for scalability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Mobile Application for Android &amp; iOS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Advanced Learning Analytics &amp; Reports</a:t>
            </a:r>
          </a:p>
          <a:p>
            <a:pPr marL="0" lvl="0" indent="0" algn="just">
              <a:lnSpc>
                <a:spcPts val="2788"/>
              </a:lnSpc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Chapter-Based Lecture Navigation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45173" y="5881432"/>
            <a:ext cx="9253880" cy="84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31"/>
              </a:lnSpc>
            </a:pPr>
            <a:r>
              <a:rPr lang="en-US" sz="5948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Future Scope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1" r="-23041" b="-61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057634" y="1434947"/>
            <a:ext cx="8852053" cy="8852053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3"/>
                </a:lnTo>
                <a:lnTo>
                  <a:pt x="0" y="8852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757340" y="9361396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337543" y="409815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06905" y="4509266"/>
            <a:ext cx="9253880" cy="110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98"/>
              </a:lnSpc>
            </a:pPr>
            <a:r>
              <a:rPr lang="en-US" sz="7848" b="1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10D7E2">
                        <a:alpha val="100000"/>
                      </a:srgbClr>
                    </a:gs>
                  </a:gsLst>
                  <a:lin ang="189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Thank You!!!!!!!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552</Words>
  <Application>Microsoft Office PowerPoint</Application>
  <PresentationFormat>Custom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Poppins</vt:lpstr>
      <vt:lpstr>Codec Pro Bold</vt:lpstr>
      <vt:lpstr>Calibri</vt:lpstr>
      <vt:lpstr>Poppins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DigiRoom: Smart Meeting Analytics</dc:title>
  <cp:lastModifiedBy>Omkar Kasar</cp:lastModifiedBy>
  <cp:revision>7</cp:revision>
  <dcterms:created xsi:type="dcterms:W3CDTF">2006-08-16T00:00:00Z</dcterms:created>
  <dcterms:modified xsi:type="dcterms:W3CDTF">2026-06-22T05:59:40Z</dcterms:modified>
  <dc:identifier>DAHNOxhblYg</dc:identifier>
</cp:coreProperties>
</file>